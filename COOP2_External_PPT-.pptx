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57" r:id="rId6"/>
    <p:sldId id="269" r:id="rId7"/>
    <p:sldId id="270" r:id="rId8"/>
    <p:sldId id="272" r:id="rId9"/>
    <p:sldId id="273" r:id="rId10"/>
    <p:sldId id="274" r:id="rId11"/>
    <p:sldId id="275" r:id="rId12"/>
    <p:sldId id="278" r:id="rId13"/>
    <p:sldId id="277" r:id="rId14"/>
    <p:sldId id="276" r:id="rId15"/>
    <p:sldId id="279" r:id="rId16"/>
    <p:sldId id="280" r:id="rId17"/>
    <p:sldId id="268"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023CA-9288-433A-B292-0A0A953116AD}" v="98" dt="2026-05-18T06:39:45.942"/>
    <p1510:client id="{51AC3A29-80BC-4E5E-8F2E-BC4F685B0E7A}" v="281" dt="2026-05-18T06:32:26.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8" d="100"/>
          <a:sy n="118" d="100"/>
        </p:scale>
        <p:origin x="-1482" y="-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lIns="91440" tIns="45720" rIns="91440" bIns="45720" anchor="t">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US" sz="4800" dirty="0" err="1">
                <a:latin typeface="Times New Roman"/>
                <a:ea typeface="Calibri"/>
                <a:cs typeface="Times New Roman"/>
              </a:rPr>
              <a:t>ResolveX</a:t>
            </a:r>
            <a:endParaRPr lang="en-US" sz="4800">
              <a:latin typeface="Times New Roman"/>
              <a:ea typeface="Calibri"/>
              <a:cs typeface="Times New Roman"/>
            </a:endParaRPr>
          </a:p>
          <a:p>
            <a:pPr algn="ctr">
              <a:spcBef>
                <a:spcPts val="400"/>
              </a:spcBef>
            </a:pPr>
            <a:br>
              <a:rPr lang="en-US" sz="2000" spc="-1" dirty="0">
                <a:latin typeface="Times New Roman"/>
                <a:ea typeface="MS PGothic"/>
                <a:cs typeface="Times New Roman"/>
              </a:rPr>
            </a:br>
            <a:endParaRPr lang="en-US" sz="2000" spc="-1" dirty="0">
              <a:latin typeface="Times New Roman"/>
              <a:ea typeface="MS PGothic"/>
              <a:cs typeface="Times New Roman"/>
            </a:endParaRPr>
          </a:p>
          <a:p>
            <a:pPr algn="ctr">
              <a:lnSpc>
                <a:spcPct val="100000"/>
              </a:lnSpc>
              <a:spcBef>
                <a:spcPts val="400"/>
              </a:spcBef>
            </a:pPr>
            <a:endParaRPr lang="en-US" sz="2000" b="0" strike="noStrike" spc="-1" dirty="0">
              <a:latin typeface="Times New Roman" panose="02020603050405020304" pitchFamily="18" charset="0"/>
              <a:ea typeface="MS PGothic"/>
              <a:cs typeface="Times New Roman" panose="02020603050405020304" pitchFamily="18" charset="0"/>
            </a:endParaRPr>
          </a:p>
          <a:p>
            <a:pPr algn="ctr">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spcBef>
                <a:spcPts val="400"/>
              </a:spcBef>
            </a:pPr>
            <a:r>
              <a:rPr lang="en-US" sz="2000" spc="-1">
                <a:solidFill>
                  <a:srgbClr val="000000"/>
                </a:solidFill>
                <a:latin typeface="Times New Roman"/>
                <a:ea typeface="MS PGothic"/>
                <a:cs typeface="Times New Roman"/>
              </a:rPr>
              <a:t>Dr. Gurpreet Singh</a:t>
            </a:r>
            <a:endParaRPr lang="en-US" sz="2000" b="0" strike="noStrike" spc="-1">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
        <p:nvSpPr>
          <p:cNvPr id="2" name="TextBox 1">
            <a:extLst>
              <a:ext uri="{FF2B5EF4-FFF2-40B4-BE49-F238E27FC236}">
                <a16:creationId xmlns:a16="http://schemas.microsoft.com/office/drawing/2014/main" id="{EFCC9449-1DBB-A6BB-20D4-48920C15DF77}"/>
              </a:ext>
            </a:extLst>
          </p:cNvPr>
          <p:cNvSpPr txBox="1"/>
          <p:nvPr/>
        </p:nvSpPr>
        <p:spPr>
          <a:xfrm>
            <a:off x="505326" y="2771958"/>
            <a:ext cx="294773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err="1">
                <a:latin typeface="Times New Roman"/>
                <a:cs typeface="Times New Roman"/>
              </a:rPr>
              <a:t>Saarthak</a:t>
            </a:r>
            <a:r>
              <a:rPr lang="en-US" dirty="0">
                <a:latin typeface="Times New Roman"/>
                <a:cs typeface="Times New Roman"/>
              </a:rPr>
              <a:t> </a:t>
            </a:r>
            <a:r>
              <a:rPr lang="en-US" sz="2000" dirty="0">
                <a:latin typeface="Times New Roman"/>
                <a:cs typeface="Times New Roman"/>
              </a:rPr>
              <a:t>Goyal</a:t>
            </a:r>
          </a:p>
          <a:p>
            <a:r>
              <a:rPr lang="en-US" sz="2000">
                <a:latin typeface="Times New Roman"/>
                <a:cs typeface="Times New Roman"/>
              </a:rPr>
              <a:t>2210990756</a:t>
            </a:r>
            <a:endParaRPr lang="en-US" sz="2000" dirty="0">
              <a:latin typeface="Times New Roman"/>
              <a:cs typeface="Times New Roman"/>
            </a:endParaRPr>
          </a:p>
        </p:txBody>
      </p:sp>
      <p:sp>
        <p:nvSpPr>
          <p:cNvPr id="3" name="TextBox 2">
            <a:extLst>
              <a:ext uri="{FF2B5EF4-FFF2-40B4-BE49-F238E27FC236}">
                <a16:creationId xmlns:a16="http://schemas.microsoft.com/office/drawing/2014/main" id="{409C56FB-A73E-0A20-08BD-085F02FA8794}"/>
              </a:ext>
            </a:extLst>
          </p:cNvPr>
          <p:cNvSpPr txBox="1"/>
          <p:nvPr/>
        </p:nvSpPr>
        <p:spPr>
          <a:xfrm>
            <a:off x="6560437" y="2771957"/>
            <a:ext cx="294773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a:cs typeface="Times New Roman"/>
              </a:rPr>
              <a:t>Saksham Katyal</a:t>
            </a:r>
          </a:p>
          <a:p>
            <a:r>
              <a:rPr lang="en-US" sz="2000">
                <a:latin typeface="Times New Roman"/>
                <a:cs typeface="Times New Roman"/>
              </a:rPr>
              <a:t>2210990764</a:t>
            </a:r>
            <a:endParaRPr lang="en-US" sz="20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685996"/>
            <a:ext cx="8838720" cy="4838571"/>
          </a:xfrm>
          <a:prstGeom prst="rect">
            <a:avLst/>
          </a:prstGeom>
          <a:noFill/>
          <a:ln w="9360">
            <a:noFill/>
          </a:ln>
        </p:spPr>
        <p:txBody>
          <a:bodyPr lIns="91440" tIns="45720" rIns="91440" bIns="45720" anchor="t">
            <a:noAutofit/>
          </a:bodyPr>
          <a:lstStyle/>
          <a:p>
            <a:pPr>
              <a:lnSpc>
                <a:spcPct val="150000"/>
              </a:lnSpc>
              <a:spcBef>
                <a:spcPts val="400"/>
              </a:spcBef>
            </a:pPr>
            <a:endParaRPr lang="en-US" sz="1900" b="0" strike="noStrike" spc="-1" dirty="0">
              <a:solidFill>
                <a:srgbClr val="000000"/>
              </a:solidFill>
              <a:latin typeface="Calibri"/>
            </a:endParaRPr>
          </a:p>
          <a:p>
            <a:r>
              <a:rPr lang="en-US" sz="2000" dirty="0">
                <a:latin typeface="Times New Roman"/>
                <a:ea typeface="Calibri"/>
                <a:cs typeface="Times New Roman"/>
              </a:rPr>
              <a:t>In residential societies, educational institutions, and workplaces, complaint handling is often managed through manual registers, phone calls, emails, or informal messaging groups. These traditional methods lead to delays, lack of proper tracking, miscommunication, and loss of important records. Residents and members frequently face difficulties in registering complaints and checking their resolution status. Society management teams also struggle to maintain transparency, assign </a:t>
            </a:r>
            <a:r>
              <a:rPr lang="en-US" sz="2000">
                <a:latin typeface="Times New Roman"/>
                <a:ea typeface="Calibri"/>
                <a:cs typeface="Times New Roman"/>
              </a:rPr>
              <a:t>responsibilities, and communicate announcements effectively. In addition, tasks such as staff management, salary tracking, and role assignment are handled manually,</a:t>
            </a:r>
            <a:endParaRPr lang="en-US">
              <a:latin typeface="Times New Roman"/>
              <a:ea typeface="Calibri"/>
              <a:cs typeface="Times New Roman"/>
            </a:endParaRPr>
          </a:p>
          <a:p>
            <a:r>
              <a:rPr lang="en-US" sz="2000" dirty="0">
                <a:latin typeface="Times New Roman"/>
                <a:ea typeface="Calibri"/>
                <a:cs typeface="Times New Roman"/>
              </a:rPr>
              <a:t>which increases errors and inefficiency. Therefore, a centralized and structured digital system is required to manage complaints and administrative activities efficiently.</a:t>
            </a:r>
            <a:endParaRPr lang="en-US">
              <a:latin typeface="Times New Roman"/>
              <a:ea typeface="Calibri"/>
              <a:cs typeface="Times New Roman"/>
            </a:endParaRPr>
          </a:p>
          <a:p>
            <a:pPr marL="139700" lvl="0">
              <a:buSzPts val="1400"/>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47270-B991-3B53-75C6-D31727FF06A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CA240F7-6FD4-2E36-E400-07EED6A3B242}"/>
              </a:ext>
            </a:extLst>
          </p:cNvPr>
          <p:cNvSpPr txBox="1"/>
          <p:nvPr/>
        </p:nvSpPr>
        <p:spPr>
          <a:xfrm>
            <a:off x="457200" y="0"/>
            <a:ext cx="6019560" cy="837720"/>
          </a:xfrm>
          <a:prstGeom prst="rect">
            <a:avLst/>
          </a:prstGeom>
          <a:noFill/>
          <a:ln w="9360">
            <a:noFill/>
          </a:ln>
        </p:spPr>
        <p:txBody>
          <a:bodyPr lIns="91440" tIns="45720" rIns="91440" bIns="45720" anchor="ctr">
            <a:noAutofit/>
          </a:bodyPr>
          <a:lstStyle/>
          <a:p>
            <a:pPr algn="ctr">
              <a:lnSpc>
                <a:spcPct val="100000"/>
              </a:lnSpc>
            </a:pPr>
            <a:r>
              <a:rPr lang="en" sz="3200">
                <a:latin typeface="Times New Roman"/>
                <a:cs typeface="Times New Roman"/>
              </a:rPr>
              <a:t>Objective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D963D304-9A2D-B3B5-22DF-4DB735C01336}"/>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FB2497FE-6C1A-4B55-17D9-0D98D8A0982A}"/>
              </a:ext>
            </a:extLst>
          </p:cNvPr>
          <p:cNvSpPr txBox="1"/>
          <p:nvPr/>
        </p:nvSpPr>
        <p:spPr>
          <a:xfrm>
            <a:off x="152857" y="1132045"/>
            <a:ext cx="8838720" cy="4838571"/>
          </a:xfrm>
          <a:prstGeom prst="rect">
            <a:avLst/>
          </a:prstGeom>
          <a:noFill/>
          <a:ln w="9360">
            <a:noFill/>
          </a:ln>
        </p:spPr>
        <p:txBody>
          <a:bodyPr lIns="91440" tIns="45720" rIns="91440" bIns="45720" anchor="t">
            <a:noAutofit/>
          </a:bodyPr>
          <a:lstStyle/>
          <a:p>
            <a:r>
              <a:rPr lang="en-US" sz="1900" spc="-1" dirty="0">
                <a:solidFill>
                  <a:srgbClr val="000000"/>
                </a:solidFill>
                <a:latin typeface="Times New Roman"/>
                <a:cs typeface="Times New Roman"/>
              </a:rPr>
              <a:t>The</a:t>
            </a:r>
            <a:r>
              <a:rPr lang="en-US" sz="1900" spc="-1" dirty="0">
                <a:latin typeface="Times New Roman"/>
                <a:ea typeface="Calibri"/>
                <a:cs typeface="Times New Roman"/>
              </a:rPr>
              <a:t> objective of this project is to develop a Smart Complaint Management System that enables residents to register and track complaints while allowing administrators to manage issues, send announcements, assign roles, monitor staff activities, and maintain organized digital records through a single integrated platform.</a:t>
            </a:r>
            <a:endParaRPr lang="en-US" sz="1900" spc="-1" dirty="0"/>
          </a:p>
          <a:p>
            <a:pPr>
              <a:lnSpc>
                <a:spcPct val="15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739016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00FF-4F6C-5DB1-2F6D-27B8749E3E5D}"/>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CE2C8F5-E516-F4B4-7B5E-AECE121EA9D5}"/>
              </a:ext>
            </a:extLst>
          </p:cNvPr>
          <p:cNvSpPr txBox="1"/>
          <p:nvPr/>
        </p:nvSpPr>
        <p:spPr>
          <a:xfrm>
            <a:off x="457200" y="301083"/>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Proposed</a:t>
            </a:r>
            <a:r>
              <a:rPr lang="en" sz="3200" b="1">
                <a:latin typeface="Times New Roman"/>
                <a:cs typeface="Times New Roman"/>
              </a:rPr>
              <a:t> </a:t>
            </a:r>
            <a:r>
              <a:rPr lang="en" sz="3200">
                <a:latin typeface="Times New Roman"/>
                <a:cs typeface="Times New Roman"/>
              </a:rPr>
              <a:t>Solution</a:t>
            </a:r>
            <a:r>
              <a:rPr lang="en" sz="3200" b="1">
                <a:latin typeface="Times New Roman"/>
                <a:cs typeface="Times New Roman"/>
              </a:rPr>
              <a:t> </a:t>
            </a:r>
            <a:endParaRPr lang="en-US"/>
          </a:p>
          <a:p>
            <a:pPr algn="ctr">
              <a:lnSpc>
                <a:spcPct val="100000"/>
              </a:lnSpc>
            </a:pPr>
            <a:endParaRPr lang="en" sz="3200" b="0" strike="noStrike"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2AE21D5-F03B-B61D-A989-E099C031853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E5EE034B-FA7D-EED0-2519-9352A2179B47}"/>
              </a:ext>
            </a:extLst>
          </p:cNvPr>
          <p:cNvSpPr txBox="1"/>
          <p:nvPr/>
        </p:nvSpPr>
        <p:spPr>
          <a:xfrm>
            <a:off x="152857" y="1132045"/>
            <a:ext cx="8838720" cy="4838571"/>
          </a:xfrm>
          <a:prstGeom prst="rect">
            <a:avLst/>
          </a:prstGeom>
          <a:noFill/>
          <a:ln w="9360">
            <a:noFill/>
          </a:ln>
        </p:spPr>
        <p:txBody>
          <a:bodyPr lIns="91440" tIns="45720" rIns="91440" bIns="45720" anchor="t">
            <a:noAutofit/>
          </a:bodyPr>
          <a:lstStyle/>
          <a:p>
            <a:r>
              <a:rPr lang="en-US" sz="1900" spc="-1">
                <a:latin typeface="Times New Roman"/>
                <a:cs typeface="Times New Roman"/>
              </a:rPr>
              <a:t>The</a:t>
            </a:r>
            <a:r>
              <a:rPr lang="en-US" sz="1900" spc="-1">
                <a:latin typeface="Times New Roman"/>
                <a:ea typeface="Calibri"/>
                <a:cs typeface="Times New Roman"/>
              </a:rPr>
              <a:t> proposed system is a web-based application designed to simplify and digitize complaint handling and society management operations. Residents can log in to the portal to raise complaints related to plumbing, electricity, maintenance, security, or other issues and </a:t>
            </a:r>
            <a:r>
              <a:rPr lang="en-US" sz="1900" spc="-1" dirty="0">
                <a:latin typeface="Times New Roman"/>
                <a:ea typeface="Calibri"/>
                <a:cs typeface="Times New Roman"/>
              </a:rPr>
              <a:t>track </a:t>
            </a:r>
            <a:r>
              <a:rPr lang="en-US" sz="1900" spc="-1">
                <a:latin typeface="Times New Roman"/>
                <a:ea typeface="Calibri"/>
                <a:cs typeface="Times New Roman"/>
              </a:rPr>
              <a:t>their resolution status in real time. The system includes an admin dashboard that allows authorized personnel to view complaints, assign them to staff members, update status, and monitor progress. The major components of the system include user authentication, complaint registration module, admin control panel, role management system, staff management section, announcement broadcasting feature, and salary management module, which work together to ensure smooth functioning and proper documentation.</a:t>
            </a:r>
            <a:endParaRPr lang="en-US"/>
          </a:p>
          <a:p>
            <a:endParaRPr lang="en-US" sz="1900" b="0" strike="noStrike" spc="-1" dirty="0">
              <a:solidFill>
                <a:srgbClr val="000000"/>
              </a:solidFill>
              <a:latin typeface="Times New Roman"/>
              <a:ea typeface="Calibri"/>
              <a:cs typeface="Times New Roman"/>
            </a:endParaRPr>
          </a:p>
        </p:txBody>
      </p:sp>
    </p:spTree>
    <p:extLst>
      <p:ext uri="{BB962C8B-B14F-4D97-AF65-F5344CB8AC3E}">
        <p14:creationId xmlns:p14="http://schemas.microsoft.com/office/powerpoint/2010/main" val="1789859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195F1-6CD9-85CC-D931-D0135F3DF25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A3EBA2A-4000-DBD9-EEB4-06267D336758}"/>
              </a:ext>
            </a:extLst>
          </p:cNvPr>
          <p:cNvSpPr txBox="1"/>
          <p:nvPr/>
        </p:nvSpPr>
        <p:spPr>
          <a:xfrm>
            <a:off x="457200" y="301083"/>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Key</a:t>
            </a:r>
            <a:r>
              <a:rPr lang="en" sz="3200" b="1">
                <a:latin typeface="Times New Roman"/>
                <a:cs typeface="Times New Roman"/>
              </a:rPr>
              <a:t> </a:t>
            </a:r>
            <a:r>
              <a:rPr lang="en" sz="3200">
                <a:latin typeface="Times New Roman"/>
                <a:cs typeface="Times New Roman"/>
              </a:rPr>
              <a:t>Features</a:t>
            </a:r>
            <a:endParaRPr lang="en-US"/>
          </a:p>
          <a:p>
            <a:pPr algn="ctr">
              <a:lnSpc>
                <a:spcPct val="100000"/>
              </a:lnSpc>
            </a:pPr>
            <a:endParaRPr lang="en" sz="3200" strike="noStrike"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73DDFAA7-FFA5-98BB-D8B0-DAB1788EE72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63135226-26B2-B130-645B-9E20753EE90B}"/>
              </a:ext>
            </a:extLst>
          </p:cNvPr>
          <p:cNvSpPr txBox="1"/>
          <p:nvPr/>
        </p:nvSpPr>
        <p:spPr>
          <a:xfrm>
            <a:off x="152857" y="1132045"/>
            <a:ext cx="8838720" cy="4838571"/>
          </a:xfrm>
          <a:prstGeom prst="rect">
            <a:avLst/>
          </a:prstGeom>
          <a:noFill/>
          <a:ln w="9360">
            <a:noFill/>
          </a:ln>
        </p:spPr>
        <p:txBody>
          <a:bodyPr lIns="91440" tIns="45720" rIns="91440" bIns="45720" anchor="t">
            <a:noAutofit/>
          </a:bodyPr>
          <a:lstStyle/>
          <a:p>
            <a:r>
              <a:rPr lang="en-US" sz="1900" spc="-1">
                <a:latin typeface="Times New Roman"/>
                <a:cs typeface="Times New Roman"/>
              </a:rPr>
              <a:t>Key</a:t>
            </a:r>
            <a:r>
              <a:rPr lang="en-US" sz="1900" spc="-1">
                <a:latin typeface="Times New Roman"/>
                <a:ea typeface="Calibri"/>
                <a:cs typeface="Times New Roman"/>
              </a:rPr>
              <a:t> features include secure login for residents and administrators, online complaint</a:t>
            </a:r>
            <a:endParaRPr lang="en-US"/>
          </a:p>
          <a:p>
            <a:r>
              <a:rPr lang="en-US" sz="1900" spc="-1" dirty="0">
                <a:latin typeface="Times New Roman"/>
                <a:ea typeface="Calibri"/>
                <a:cs typeface="Times New Roman"/>
              </a:rPr>
              <a:t>submission, issue categorization, real-time tracking, and status updates. The admin dashboard allows sending announcements to all residents, assigning roles to committee members, managing society staff, recording salary payments, and maintaining service </a:t>
            </a:r>
            <a:r>
              <a:rPr lang="en-US" sz="1900" spc="-1">
                <a:latin typeface="Times New Roman"/>
                <a:ea typeface="Calibri"/>
                <a:cs typeface="Times New Roman"/>
              </a:rPr>
              <a:t>logs. The system also stores complaint history for future reference and improves transparency between residents and management.</a:t>
            </a:r>
            <a:endParaRPr lang="en-US"/>
          </a:p>
          <a:p>
            <a:endParaRPr lang="en-US" sz="1900" b="0" strike="noStrike" spc="-1" dirty="0">
              <a:solidFill>
                <a:srgbClr val="000000"/>
              </a:solidFill>
              <a:latin typeface="Times New Roman"/>
              <a:ea typeface="Calibri"/>
              <a:cs typeface="Times New Roman"/>
            </a:endParaRPr>
          </a:p>
        </p:txBody>
      </p:sp>
    </p:spTree>
    <p:extLst>
      <p:ext uri="{BB962C8B-B14F-4D97-AF65-F5344CB8AC3E}">
        <p14:creationId xmlns:p14="http://schemas.microsoft.com/office/powerpoint/2010/main" val="2736901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4FD8D-27B1-74A9-8ED4-BB79E90AFD8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52872C1-0872-57BA-10E9-2770B8491777}"/>
              </a:ext>
            </a:extLst>
          </p:cNvPr>
          <p:cNvSpPr txBox="1"/>
          <p:nvPr/>
        </p:nvSpPr>
        <p:spPr>
          <a:xfrm>
            <a:off x="457200" y="301083"/>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Technology Used​</a:t>
            </a:r>
          </a:p>
          <a:p>
            <a:pPr algn="ctr">
              <a:lnSpc>
                <a:spcPct val="100000"/>
              </a:lnSpc>
            </a:pPr>
            <a:endParaRPr lang="en" sz="3200" strike="noStrike"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AF3CDDFB-E8D8-2315-7A17-E9412D72F3A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6E5FC4CA-7865-891A-ABB1-A925C5DDA28D}"/>
              </a:ext>
            </a:extLst>
          </p:cNvPr>
          <p:cNvSpPr txBox="1"/>
          <p:nvPr/>
        </p:nvSpPr>
        <p:spPr>
          <a:xfrm>
            <a:off x="152857" y="1132045"/>
            <a:ext cx="8838720" cy="4838571"/>
          </a:xfrm>
          <a:prstGeom prst="rect">
            <a:avLst/>
          </a:prstGeom>
          <a:noFill/>
          <a:ln w="9360">
            <a:noFill/>
          </a:ln>
        </p:spPr>
        <p:txBody>
          <a:bodyPr lIns="91440" tIns="45720" rIns="91440" bIns="45720" anchor="t">
            <a:noAutofit/>
          </a:bodyPr>
          <a:lstStyle/>
          <a:p>
            <a:r>
              <a:rPr lang="en-US" sz="1900" spc="-1">
                <a:latin typeface="Times New Roman"/>
                <a:cs typeface="Times New Roman"/>
              </a:rPr>
              <a:t>The</a:t>
            </a:r>
            <a:r>
              <a:rPr lang="en-US" sz="1900" spc="-1">
                <a:latin typeface="Times New Roman"/>
                <a:ea typeface="Calibri"/>
                <a:cs typeface="Times New Roman"/>
              </a:rPr>
              <a:t> system is developed using modern web technologies such as HTML, CSS, JavaScript, and a backend framework integrated with a secure database for storing user data, complaint records, staff details, and salary information. The application follows a structured and user-friendly design approach.</a:t>
            </a:r>
            <a:endParaRPr lang="en-US"/>
          </a:p>
          <a:p>
            <a:endParaRPr lang="en-US" sz="1900" b="0" strike="noStrike" spc="-1" dirty="0">
              <a:solidFill>
                <a:srgbClr val="000000"/>
              </a:solidFill>
              <a:latin typeface="Times New Roman"/>
              <a:ea typeface="Calibri"/>
              <a:cs typeface="Times New Roman"/>
            </a:endParaRPr>
          </a:p>
        </p:txBody>
      </p:sp>
    </p:spTree>
    <p:extLst>
      <p:ext uri="{BB962C8B-B14F-4D97-AF65-F5344CB8AC3E}">
        <p14:creationId xmlns:p14="http://schemas.microsoft.com/office/powerpoint/2010/main" val="3197867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C6217-677C-A22B-4FD0-2BA42076851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23C3C13-7E79-0542-69DB-275915EE71A6}"/>
              </a:ext>
            </a:extLst>
          </p:cNvPr>
          <p:cNvSpPr txBox="1"/>
          <p:nvPr/>
        </p:nvSpPr>
        <p:spPr>
          <a:xfrm>
            <a:off x="457200" y="301083"/>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Expected</a:t>
            </a:r>
            <a:r>
              <a:rPr lang="en" sz="3200" b="1" dirty="0">
                <a:latin typeface="Times New Roman"/>
                <a:cs typeface="Times New Roman"/>
              </a:rPr>
              <a:t> </a:t>
            </a:r>
            <a:r>
              <a:rPr lang="en" sz="3200">
                <a:latin typeface="Times New Roman"/>
                <a:cs typeface="Times New Roman"/>
              </a:rPr>
              <a:t>Outcome</a:t>
            </a:r>
            <a:r>
              <a:rPr lang="en" sz="3200" b="1" dirty="0">
                <a:latin typeface="Times New Roman"/>
                <a:cs typeface="Times New Roman"/>
              </a:rPr>
              <a:t> </a:t>
            </a:r>
            <a:r>
              <a:rPr lang="en" sz="3200">
                <a:latin typeface="Times New Roman"/>
                <a:cs typeface="Times New Roman"/>
              </a:rPr>
              <a:t>&amp;</a:t>
            </a:r>
            <a:r>
              <a:rPr lang="en" sz="3200" b="1">
                <a:latin typeface="Times New Roman"/>
                <a:cs typeface="Times New Roman"/>
              </a:rPr>
              <a:t> </a:t>
            </a:r>
            <a:r>
              <a:rPr lang="en" sz="3200">
                <a:latin typeface="Times New Roman"/>
                <a:cs typeface="Times New Roman"/>
              </a:rPr>
              <a:t>Benefits</a:t>
            </a:r>
            <a:endParaRPr lang="en-US"/>
          </a:p>
          <a:p>
            <a:pPr algn="ctr">
              <a:lnSpc>
                <a:spcPct val="100000"/>
              </a:lnSpc>
            </a:pPr>
            <a:endParaRPr lang="en" sz="3200" b="1" strike="noStrike"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AE974D69-A3C9-2D39-4C41-6C05765E80C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3" name="TextShape 2">
            <a:extLst>
              <a:ext uri="{FF2B5EF4-FFF2-40B4-BE49-F238E27FC236}">
                <a16:creationId xmlns:a16="http://schemas.microsoft.com/office/drawing/2014/main" id="{A0FF4306-6756-2CA2-C3FC-29CCE5878D69}"/>
              </a:ext>
            </a:extLst>
          </p:cNvPr>
          <p:cNvSpPr txBox="1"/>
          <p:nvPr/>
        </p:nvSpPr>
        <p:spPr>
          <a:xfrm>
            <a:off x="152857" y="1132045"/>
            <a:ext cx="8838720" cy="4838571"/>
          </a:xfrm>
          <a:prstGeom prst="rect">
            <a:avLst/>
          </a:prstGeom>
          <a:noFill/>
          <a:ln w="9360">
            <a:noFill/>
          </a:ln>
        </p:spPr>
        <p:txBody>
          <a:bodyPr lIns="91440" tIns="45720" rIns="91440" bIns="45720" anchor="t">
            <a:noAutofit/>
          </a:bodyPr>
          <a:lstStyle/>
          <a:p>
            <a:r>
              <a:rPr lang="en-US" sz="1900" spc="-1">
                <a:latin typeface="Times New Roman"/>
                <a:cs typeface="Times New Roman"/>
              </a:rPr>
              <a:t>The</a:t>
            </a:r>
            <a:r>
              <a:rPr lang="en-US" sz="1900" spc="-1">
                <a:latin typeface="Times New Roman"/>
                <a:ea typeface="Calibri"/>
                <a:cs typeface="Times New Roman"/>
              </a:rPr>
              <a:t> expected outcome is an efficient, transparent, and user-friendly digital platform that</a:t>
            </a:r>
            <a:endParaRPr lang="en-US"/>
          </a:p>
          <a:p>
            <a:r>
              <a:rPr lang="en-US" sz="1900" spc="-1" dirty="0">
                <a:latin typeface="Times New Roman"/>
                <a:ea typeface="Calibri"/>
                <a:cs typeface="Times New Roman"/>
              </a:rPr>
              <a:t>improves communication between residents and management. It reduces manual workload, ensures faster complaint resolution, and helps administrators manage staff roles, salaries, and announcements from one place. The system maintains proper records, enhances accountability, and supports better decision-making for society operations.</a:t>
            </a:r>
            <a:endParaRPr lang="en-US" dirty="0"/>
          </a:p>
          <a:p>
            <a:endParaRPr lang="en-US" sz="1900" b="0" strike="noStrike" spc="-1" dirty="0">
              <a:solidFill>
                <a:srgbClr val="000000"/>
              </a:solidFill>
              <a:latin typeface="Times New Roman"/>
              <a:ea typeface="Calibri"/>
              <a:cs typeface="Times New Roman"/>
            </a:endParaRPr>
          </a:p>
        </p:txBody>
      </p:sp>
    </p:spTree>
    <p:extLst>
      <p:ext uri="{BB962C8B-B14F-4D97-AF65-F5344CB8AC3E}">
        <p14:creationId xmlns:p14="http://schemas.microsoft.com/office/powerpoint/2010/main" val="10785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60FF5-2157-583C-46BF-22FCFF3C163A}"/>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5925401-E979-45B9-287F-2B74653A24EA}"/>
              </a:ext>
            </a:extLst>
          </p:cNvPr>
          <p:cNvSpPr txBox="1"/>
          <p:nvPr/>
        </p:nvSpPr>
        <p:spPr>
          <a:xfrm>
            <a:off x="457200" y="66907"/>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Screenshots</a:t>
            </a:r>
            <a:endParaRPr lang="en-US"/>
          </a:p>
        </p:txBody>
      </p:sp>
      <p:sp>
        <p:nvSpPr>
          <p:cNvPr id="110" name="TextShape 3">
            <a:extLst>
              <a:ext uri="{FF2B5EF4-FFF2-40B4-BE49-F238E27FC236}">
                <a16:creationId xmlns:a16="http://schemas.microsoft.com/office/drawing/2014/main" id="{1702DDD9-B67C-55E0-3675-06AB681697FD}"/>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CFBD308C-6FD8-96B4-2716-98AFBB82EA22}"/>
              </a:ext>
            </a:extLst>
          </p:cNvPr>
          <p:cNvPicPr>
            <a:picLocks noChangeAspect="1"/>
          </p:cNvPicPr>
          <p:nvPr/>
        </p:nvPicPr>
        <p:blipFill>
          <a:blip r:embed="rId2"/>
          <a:stretch>
            <a:fillRect/>
          </a:stretch>
        </p:blipFill>
        <p:spPr>
          <a:xfrm>
            <a:off x="0" y="1243013"/>
            <a:ext cx="9144000" cy="4371975"/>
          </a:xfrm>
          <a:prstGeom prst="rect">
            <a:avLst/>
          </a:prstGeom>
        </p:spPr>
      </p:pic>
    </p:spTree>
    <p:extLst>
      <p:ext uri="{BB962C8B-B14F-4D97-AF65-F5344CB8AC3E}">
        <p14:creationId xmlns:p14="http://schemas.microsoft.com/office/powerpoint/2010/main" val="2544749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F3CA-DCA8-6D8A-4C97-0AF114941E8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FBE239B-D153-4BB9-7EC5-3C694B6E4085}"/>
              </a:ext>
            </a:extLst>
          </p:cNvPr>
          <p:cNvSpPr txBox="1"/>
          <p:nvPr/>
        </p:nvSpPr>
        <p:spPr>
          <a:xfrm>
            <a:off x="457200" y="66907"/>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Screenshots</a:t>
            </a:r>
            <a:endParaRPr lang="en-US"/>
          </a:p>
        </p:txBody>
      </p:sp>
      <p:sp>
        <p:nvSpPr>
          <p:cNvPr id="110" name="TextShape 3">
            <a:extLst>
              <a:ext uri="{FF2B5EF4-FFF2-40B4-BE49-F238E27FC236}">
                <a16:creationId xmlns:a16="http://schemas.microsoft.com/office/drawing/2014/main" id="{DEFD8F9A-E168-91A5-8E6A-85166071C28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pic>
        <p:nvPicPr>
          <p:cNvPr id="4" name="Picture 3" descr="A screenshot of a computer screen&#10;&#10;AI-generated content may be incorrect.">
            <a:extLst>
              <a:ext uri="{FF2B5EF4-FFF2-40B4-BE49-F238E27FC236}">
                <a16:creationId xmlns:a16="http://schemas.microsoft.com/office/drawing/2014/main" id="{B85843B5-45F8-07DD-8133-C3D79B63EC46}"/>
              </a:ext>
            </a:extLst>
          </p:cNvPr>
          <p:cNvPicPr>
            <a:picLocks noChangeAspect="1"/>
          </p:cNvPicPr>
          <p:nvPr/>
        </p:nvPicPr>
        <p:blipFill>
          <a:blip r:embed="rId2"/>
          <a:stretch>
            <a:fillRect/>
          </a:stretch>
        </p:blipFill>
        <p:spPr>
          <a:xfrm>
            <a:off x="929" y="1433513"/>
            <a:ext cx="9144000" cy="4160520"/>
          </a:xfrm>
          <a:prstGeom prst="rect">
            <a:avLst/>
          </a:prstGeom>
        </p:spPr>
      </p:pic>
    </p:spTree>
    <p:extLst>
      <p:ext uri="{BB962C8B-B14F-4D97-AF65-F5344CB8AC3E}">
        <p14:creationId xmlns:p14="http://schemas.microsoft.com/office/powerpoint/2010/main" val="1929763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66C08-2847-B7CC-2659-5A06A4C77B4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076A503-5943-32DF-F457-39F787CE3771}"/>
              </a:ext>
            </a:extLst>
          </p:cNvPr>
          <p:cNvSpPr txBox="1"/>
          <p:nvPr/>
        </p:nvSpPr>
        <p:spPr>
          <a:xfrm>
            <a:off x="457200" y="66907"/>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Screenshots</a:t>
            </a:r>
            <a:endParaRPr lang="en-US"/>
          </a:p>
        </p:txBody>
      </p:sp>
      <p:sp>
        <p:nvSpPr>
          <p:cNvPr id="110" name="TextShape 3">
            <a:extLst>
              <a:ext uri="{FF2B5EF4-FFF2-40B4-BE49-F238E27FC236}">
                <a16:creationId xmlns:a16="http://schemas.microsoft.com/office/drawing/2014/main" id="{E178E159-3B8C-CECD-6B5F-7C9D60F174C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pic>
        <p:nvPicPr>
          <p:cNvPr id="5" name="Picture 4" descr="A screenshot of a phone&#10;&#10;AI-generated content may be incorrect.">
            <a:extLst>
              <a:ext uri="{FF2B5EF4-FFF2-40B4-BE49-F238E27FC236}">
                <a16:creationId xmlns:a16="http://schemas.microsoft.com/office/drawing/2014/main" id="{95DA7AE5-4A2A-3CBE-C1F2-5EDDA0C6C955}"/>
              </a:ext>
            </a:extLst>
          </p:cNvPr>
          <p:cNvPicPr>
            <a:picLocks noChangeAspect="1"/>
          </p:cNvPicPr>
          <p:nvPr/>
        </p:nvPicPr>
        <p:blipFill>
          <a:blip r:embed="rId2"/>
          <a:stretch>
            <a:fillRect/>
          </a:stretch>
        </p:blipFill>
        <p:spPr>
          <a:xfrm>
            <a:off x="1345580" y="904759"/>
            <a:ext cx="6114257" cy="5770757"/>
          </a:xfrm>
          <a:prstGeom prst="rect">
            <a:avLst/>
          </a:prstGeom>
        </p:spPr>
      </p:pic>
    </p:spTree>
    <p:extLst>
      <p:ext uri="{BB962C8B-B14F-4D97-AF65-F5344CB8AC3E}">
        <p14:creationId xmlns:p14="http://schemas.microsoft.com/office/powerpoint/2010/main" val="2943653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8EBA6-AD11-3D30-EB1F-81CF2DF887D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25F0D22B-BBCF-EC97-5631-1EEC764D62D7}"/>
              </a:ext>
            </a:extLst>
          </p:cNvPr>
          <p:cNvSpPr txBox="1"/>
          <p:nvPr/>
        </p:nvSpPr>
        <p:spPr>
          <a:xfrm>
            <a:off x="457200" y="66907"/>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Screenshots</a:t>
            </a:r>
            <a:endParaRPr lang="en-US"/>
          </a:p>
        </p:txBody>
      </p:sp>
      <p:sp>
        <p:nvSpPr>
          <p:cNvPr id="110" name="TextShape 3">
            <a:extLst>
              <a:ext uri="{FF2B5EF4-FFF2-40B4-BE49-F238E27FC236}">
                <a16:creationId xmlns:a16="http://schemas.microsoft.com/office/drawing/2014/main" id="{A1824537-75DC-41E6-8575-70E80734E15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pic>
        <p:nvPicPr>
          <p:cNvPr id="3" name="Picture 2" descr="A screenshot of a phone&#10;&#10;AI-generated content may be incorrect.">
            <a:extLst>
              <a:ext uri="{FF2B5EF4-FFF2-40B4-BE49-F238E27FC236}">
                <a16:creationId xmlns:a16="http://schemas.microsoft.com/office/drawing/2014/main" id="{BCD5D8BA-5B2A-1CE1-7DE5-A5F26A9C1C68}"/>
              </a:ext>
            </a:extLst>
          </p:cNvPr>
          <p:cNvPicPr>
            <a:picLocks noChangeAspect="1"/>
          </p:cNvPicPr>
          <p:nvPr/>
        </p:nvPicPr>
        <p:blipFill>
          <a:blip r:embed="rId2"/>
          <a:stretch>
            <a:fillRect/>
          </a:stretch>
        </p:blipFill>
        <p:spPr>
          <a:xfrm>
            <a:off x="1319212" y="1007676"/>
            <a:ext cx="6505575" cy="5534025"/>
          </a:xfrm>
          <a:prstGeom prst="rect">
            <a:avLst/>
          </a:prstGeom>
        </p:spPr>
      </p:pic>
    </p:spTree>
    <p:extLst>
      <p:ext uri="{BB962C8B-B14F-4D97-AF65-F5344CB8AC3E}">
        <p14:creationId xmlns:p14="http://schemas.microsoft.com/office/powerpoint/2010/main" val="2735132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B64CC-8215-F7AB-B361-4E31B7B28AC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F3C7C647-C0A9-624A-DF7A-0E27704208D8}"/>
              </a:ext>
            </a:extLst>
          </p:cNvPr>
          <p:cNvSpPr txBox="1"/>
          <p:nvPr/>
        </p:nvSpPr>
        <p:spPr>
          <a:xfrm>
            <a:off x="457200" y="66907"/>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Screenshots</a:t>
            </a:r>
            <a:endParaRPr lang="en-US"/>
          </a:p>
        </p:txBody>
      </p:sp>
      <p:sp>
        <p:nvSpPr>
          <p:cNvPr id="110" name="TextShape 3">
            <a:extLst>
              <a:ext uri="{FF2B5EF4-FFF2-40B4-BE49-F238E27FC236}">
                <a16:creationId xmlns:a16="http://schemas.microsoft.com/office/drawing/2014/main" id="{C31C0F57-7582-1B17-AF6C-8E744754FCC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1FAAA86F-443A-789E-0332-E9E5A5004367}"/>
              </a:ext>
            </a:extLst>
          </p:cNvPr>
          <p:cNvPicPr>
            <a:picLocks noChangeAspect="1"/>
          </p:cNvPicPr>
          <p:nvPr/>
        </p:nvPicPr>
        <p:blipFill>
          <a:blip r:embed="rId2"/>
          <a:stretch>
            <a:fillRect/>
          </a:stretch>
        </p:blipFill>
        <p:spPr>
          <a:xfrm>
            <a:off x="0" y="1417320"/>
            <a:ext cx="9144000" cy="4023360"/>
          </a:xfrm>
          <a:prstGeom prst="rect">
            <a:avLst/>
          </a:prstGeom>
        </p:spPr>
      </p:pic>
    </p:spTree>
    <p:extLst>
      <p:ext uri="{BB962C8B-B14F-4D97-AF65-F5344CB8AC3E}">
        <p14:creationId xmlns:p14="http://schemas.microsoft.com/office/powerpoint/2010/main" val="501789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F0717-2B91-69E8-31D1-75C4F690177C}"/>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4EE2424-A2DB-C487-556C-A1316C1EA0AD}"/>
              </a:ext>
            </a:extLst>
          </p:cNvPr>
          <p:cNvSpPr txBox="1"/>
          <p:nvPr/>
        </p:nvSpPr>
        <p:spPr>
          <a:xfrm>
            <a:off x="457200" y="66907"/>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Screenshots</a:t>
            </a:r>
            <a:endParaRPr lang="en-US"/>
          </a:p>
        </p:txBody>
      </p:sp>
      <p:sp>
        <p:nvSpPr>
          <p:cNvPr id="110" name="TextShape 3">
            <a:extLst>
              <a:ext uri="{FF2B5EF4-FFF2-40B4-BE49-F238E27FC236}">
                <a16:creationId xmlns:a16="http://schemas.microsoft.com/office/drawing/2014/main" id="{EC92A49D-F044-0541-8378-A2E8C8271173}"/>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pic>
        <p:nvPicPr>
          <p:cNvPr id="5" name="Picture 4" descr="A computer screen shot of a computer screen&#10;&#10;AI-generated content may be incorrect.">
            <a:extLst>
              <a:ext uri="{FF2B5EF4-FFF2-40B4-BE49-F238E27FC236}">
                <a16:creationId xmlns:a16="http://schemas.microsoft.com/office/drawing/2014/main" id="{3AB9F6E5-81F1-7AAF-0200-84C267BE22D2}"/>
              </a:ext>
            </a:extLst>
          </p:cNvPr>
          <p:cNvPicPr>
            <a:picLocks noChangeAspect="1"/>
          </p:cNvPicPr>
          <p:nvPr/>
        </p:nvPicPr>
        <p:blipFill>
          <a:blip r:embed="rId2"/>
          <a:stretch>
            <a:fillRect/>
          </a:stretch>
        </p:blipFill>
        <p:spPr>
          <a:xfrm>
            <a:off x="981075" y="1713455"/>
            <a:ext cx="7181850" cy="1457325"/>
          </a:xfrm>
          <a:prstGeom prst="rect">
            <a:avLst/>
          </a:prstGeom>
        </p:spPr>
      </p:pic>
      <p:pic>
        <p:nvPicPr>
          <p:cNvPr id="6" name="Picture 5" descr="A black rectangle with green lines&#10;&#10;AI-generated content may be incorrect.">
            <a:extLst>
              <a:ext uri="{FF2B5EF4-FFF2-40B4-BE49-F238E27FC236}">
                <a16:creationId xmlns:a16="http://schemas.microsoft.com/office/drawing/2014/main" id="{46958A36-8835-6170-5BC4-850CC015A1A3}"/>
              </a:ext>
            </a:extLst>
          </p:cNvPr>
          <p:cNvPicPr>
            <a:picLocks noChangeAspect="1"/>
          </p:cNvPicPr>
          <p:nvPr/>
        </p:nvPicPr>
        <p:blipFill>
          <a:blip r:embed="rId3"/>
          <a:stretch>
            <a:fillRect/>
          </a:stretch>
        </p:blipFill>
        <p:spPr>
          <a:xfrm>
            <a:off x="0" y="4674913"/>
            <a:ext cx="9144000" cy="976203"/>
          </a:xfrm>
          <a:prstGeom prst="rect">
            <a:avLst/>
          </a:prstGeom>
        </p:spPr>
      </p:pic>
    </p:spTree>
    <p:extLst>
      <p:ext uri="{BB962C8B-B14F-4D97-AF65-F5344CB8AC3E}">
        <p14:creationId xmlns:p14="http://schemas.microsoft.com/office/powerpoint/2010/main" val="3402367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34701</TotalTime>
  <Words>44</Words>
  <Application>Microsoft Office PowerPoint</Application>
  <PresentationFormat>On-screen Show (4:3)</PresentationFormat>
  <Paragraphs>30</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isha</cp:lastModifiedBy>
  <cp:revision>2450</cp:revision>
  <dcterms:created xsi:type="dcterms:W3CDTF">2010-04-09T07:36:15Z</dcterms:created>
  <dcterms:modified xsi:type="dcterms:W3CDTF">2026-05-18T06:39:53Z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